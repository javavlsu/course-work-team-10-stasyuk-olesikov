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5"/>
  </p:notesMasterIdLst>
  <p:handoutMasterIdLst>
    <p:handoutMasterId r:id="rId36"/>
  </p:handoutMasterIdLst>
  <p:sldIdLst>
    <p:sldId id="256" r:id="rId5"/>
    <p:sldId id="28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265" r:id="rId16"/>
    <p:sldId id="267" r:id="rId17"/>
    <p:sldId id="269" r:id="rId18"/>
    <p:sldId id="287" r:id="rId19"/>
    <p:sldId id="270" r:id="rId20"/>
    <p:sldId id="271" r:id="rId21"/>
    <p:sldId id="272" r:id="rId22"/>
    <p:sldId id="273" r:id="rId23"/>
    <p:sldId id="274" r:id="rId24"/>
    <p:sldId id="278" r:id="rId25"/>
    <p:sldId id="279" r:id="rId26"/>
    <p:sldId id="275" r:id="rId27"/>
    <p:sldId id="277" r:id="rId28"/>
    <p:sldId id="280" r:id="rId29"/>
    <p:sldId id="281" r:id="rId30"/>
    <p:sldId id="282" r:id="rId31"/>
    <p:sldId id="283" r:id="rId32"/>
    <p:sldId id="284" r:id="rId33"/>
    <p:sldId id="286" r:id="rId3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7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72" d="100"/>
          <a:sy n="72" d="100"/>
        </p:scale>
        <p:origin x="54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5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51F6ED01-B613-435C-806E-485D60D5A270}" type="datetime1">
              <a:rPr lang="ru-RU" smtClean="0"/>
              <a:t>24.06.2026</a:t>
            </a:fld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2C230DF-5933-439D-898F-38E9AC9BA68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E22AA5DB-3D36-41C7-B5E9-13985188493D}" type="datetime1">
              <a:rPr lang="ru-RU" smtClean="0"/>
              <a:pPr/>
              <a:t>24.06.2026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A89C7E07-3C67-C64C-8DA0-0404F63039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Автофигура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 spc="50" baseline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ru-RU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3" name="Номер слайда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2" name="Дата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Полилиния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9436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Автофигура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8" name="Полилиния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9" name="Полилиния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ru-RU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ru-RU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ru-RU" sz="2000"/>
            </a:lvl3pPr>
            <a:lvl4pPr marL="1371600" indent="0">
              <a:spcBef>
                <a:spcPts val="1800"/>
              </a:spcBef>
              <a:buFont typeface="+mj-lt"/>
              <a:buNone/>
              <a:defRPr lang="ru-RU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endParaRPr lang="ru-RU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рисун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Полилиния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7" name="Полилиния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457200" indent="0">
              <a:spcBef>
                <a:spcPts val="1800"/>
              </a:spcBef>
              <a:buNone/>
              <a:defRPr lang="ru-RU" sz="2000"/>
            </a:lvl2pPr>
            <a:lvl3pPr marL="914400" indent="0">
              <a:spcBef>
                <a:spcPts val="1800"/>
              </a:spcBef>
              <a:buNone/>
              <a:defRPr lang="ru-RU" sz="2000"/>
            </a:lvl3pPr>
            <a:lvl4pPr marL="1371600" indent="0">
              <a:spcBef>
                <a:spcPts val="1800"/>
              </a:spcBef>
              <a:buNone/>
              <a:defRPr lang="ru-RU" sz="2000"/>
            </a:lvl4pPr>
            <a:lvl5pPr marL="1828800" indent="0">
              <a:spcBef>
                <a:spcPts val="1800"/>
              </a:spcBef>
              <a:buNone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>
              <a:spcBef>
                <a:spcPts val="18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9" name="Местозаполнитель таблицы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ru-RU"/>
            </a:lvl1pPr>
          </a:lstStyle>
          <a:p>
            <a:pPr rtl="0"/>
            <a:r>
              <a:rPr lang="ru-RU"/>
              <a:t>Щелкните значок, чтобы добавить таблицу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32" name="Номер слайда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E18E1967-F696-D781-F721-F5B360CFC51A}"/>
              </a:ext>
            </a:extLst>
          </p:cNvPr>
          <p:cNvSpPr txBox="1"/>
          <p:nvPr/>
        </p:nvSpPr>
        <p:spPr>
          <a:xfrm>
            <a:off x="3343275" y="165599"/>
            <a:ext cx="5505450" cy="177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ter Medium"/>
                <a:sym typeface="Inter Medium"/>
              </a:rPr>
              <a:t>КУРСОВОЙ ПРОЕКТ</a:t>
            </a:r>
            <a:endParaRPr lang="ru-RU" sz="2100" dirty="0">
              <a:solidFill>
                <a:schemeClr val="bg1"/>
              </a:solidFill>
              <a:latin typeface="+mj-lt"/>
              <a:ea typeface="Inter Medium"/>
              <a:sym typeface="Inter Medium"/>
            </a:endParaRPr>
          </a:p>
          <a:p>
            <a:pPr marL="180340" algn="ctr">
              <a:lnSpc>
                <a:spcPct val="150000"/>
              </a:lnSpc>
            </a:pPr>
            <a:r>
              <a:rPr lang="ru-RU" sz="2100" dirty="0">
                <a:solidFill>
                  <a:schemeClr val="bg1"/>
                </a:solidFill>
                <a:latin typeface="+mj-lt"/>
                <a:ea typeface="Inter Medium"/>
              </a:rPr>
              <a:t>по дисциплине</a:t>
            </a:r>
          </a:p>
          <a:p>
            <a:pPr marL="180340" algn="ctr">
              <a:lnSpc>
                <a:spcPct val="150000"/>
              </a:lnSpc>
            </a:pPr>
            <a:r>
              <a:rPr lang="ru-RU" sz="2100" dirty="0">
                <a:solidFill>
                  <a:schemeClr val="bg1"/>
                </a:solidFill>
                <a:latin typeface="+mj-lt"/>
                <a:ea typeface="Inter Medium"/>
              </a:rPr>
              <a:t>«Распределенные программные системы»</a:t>
            </a:r>
          </a:p>
          <a:p>
            <a:pPr marL="180340" algn="ctr">
              <a:lnSpc>
                <a:spcPct val="150000"/>
              </a:lnSpc>
            </a:pPr>
            <a:r>
              <a:rPr lang="ru-RU" sz="2100" dirty="0">
                <a:solidFill>
                  <a:schemeClr val="bg1"/>
                </a:solidFill>
                <a:latin typeface="+mj-lt"/>
                <a:ea typeface="Inter Medium"/>
              </a:rPr>
              <a:t>на тему: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E3A36AF-2EAF-4CB7-A3E1-519CEB247CCA}"/>
              </a:ext>
            </a:extLst>
          </p:cNvPr>
          <p:cNvSpPr/>
          <p:nvPr/>
        </p:nvSpPr>
        <p:spPr>
          <a:xfrm>
            <a:off x="1524000" y="2027903"/>
            <a:ext cx="9144000" cy="140109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500" dirty="0">
                <a:solidFill>
                  <a:schemeClr val="bg1"/>
                </a:solidFill>
                <a:latin typeface="+mj-lt"/>
              </a:rPr>
              <a:t>Сайт-платформа для размещения онлайн инди игр</a:t>
            </a:r>
            <a:endParaRPr lang="en-US" sz="4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F926EC4-EB32-4036-81E8-0672BCC8D786}"/>
              </a:ext>
            </a:extLst>
          </p:cNvPr>
          <p:cNvSpPr/>
          <p:nvPr/>
        </p:nvSpPr>
        <p:spPr>
          <a:xfrm>
            <a:off x="6506817" y="6008647"/>
            <a:ext cx="5685183" cy="68375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Выполнили студенты: </a:t>
            </a:r>
            <a:r>
              <a:rPr lang="en-US" sz="2000" dirty="0" err="1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Стасюк</a:t>
            </a:r>
            <a:r>
              <a:rPr lang="ru-RU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 О. Р.</a:t>
            </a: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Олесиков</a:t>
            </a:r>
            <a:r>
              <a:rPr lang="ru-RU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 М. С.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Руководитель</a:t>
            </a: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: </a:t>
            </a:r>
            <a:r>
              <a:rPr lang="ru-RU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Тимофеев А. А.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58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AEA0-803E-43C0-B268-B92AE869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202635"/>
            <a:ext cx="5882115" cy="1593507"/>
          </a:xfrm>
        </p:spPr>
        <p:txBody>
          <a:bodyPr/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1F466-7A5D-41DD-8176-9B3843448576}"/>
              </a:ext>
            </a:extLst>
          </p:cNvPr>
          <p:cNvSpPr txBox="1"/>
          <p:nvPr/>
        </p:nvSpPr>
        <p:spPr>
          <a:xfrm>
            <a:off x="0" y="2661220"/>
            <a:ext cx="7044033" cy="3781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79375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Реализовать единый каталог игр с расширенной системой фильтров (по жанру, тегу, рейтингу) и полнотекстовым поиском.</a:t>
            </a:r>
            <a:endParaRPr lang="en-US" sz="1400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79375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Внедрить технологию запуска игр напрямую в браузере для мгновенного доступа.</a:t>
            </a:r>
            <a:endParaRPr lang="en-US" sz="1400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79375" lvl="0" indent="-342900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административный модуль модерации контента для обеспечения качества и безопасности публикуемых материалов.</a:t>
            </a:r>
            <a:endParaRPr lang="en-US" sz="1400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79375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ru-RU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Создать личные кабинеты для разработчиков с инструментами для публикации игр и получения обратной связи от игроков.</a:t>
            </a:r>
            <a:endParaRPr lang="en-US" sz="1400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71041983-5A07-9BAF-F5CC-B02B6DEBA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947"/>
          <a:stretch/>
        </p:blipFill>
        <p:spPr>
          <a:xfrm>
            <a:off x="3203458" y="-331538"/>
            <a:ext cx="3437880" cy="29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77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168D3E-7823-4F27-964C-7D74EA1A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63051"/>
          </a:xfrm>
        </p:spPr>
        <p:txBody>
          <a:bodyPr/>
          <a:lstStyle/>
          <a:p>
            <a:r>
              <a:rPr lang="ru-RU" dirty="0"/>
              <a:t>Анализ существующих решений</a:t>
            </a:r>
            <a:endParaRPr lang="en-US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45D39EC-ED76-F508-70B4-4559718FA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65676"/>
              </p:ext>
            </p:extLst>
          </p:nvPr>
        </p:nvGraphicFramePr>
        <p:xfrm>
          <a:off x="217287" y="1247930"/>
          <a:ext cx="3301576" cy="2844799"/>
        </p:xfrm>
        <a:graphic>
          <a:graphicData uri="http://schemas.openxmlformats.org/drawingml/2006/table">
            <a:tbl>
              <a:tblPr>
                <a:tableStyleId>{EB344D84-9AFB-497E-A393-DC336BA19D2E}</a:tableStyleId>
              </a:tblPr>
              <a:tblGrid>
                <a:gridCol w="1650788">
                  <a:extLst>
                    <a:ext uri="{9D8B030D-6E8A-4147-A177-3AD203B41FA5}">
                      <a16:colId xmlns:a16="http://schemas.microsoft.com/office/drawing/2014/main" val="4021748661"/>
                    </a:ext>
                  </a:extLst>
                </a:gridCol>
                <a:gridCol w="1650788">
                  <a:extLst>
                    <a:ext uri="{9D8B030D-6E8A-4147-A177-3AD203B41FA5}">
                      <a16:colId xmlns:a16="http://schemas.microsoft.com/office/drawing/2014/main" val="704245333"/>
                    </a:ext>
                  </a:extLst>
                </a:gridCol>
              </a:tblGrid>
              <a:tr h="72080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>
                          <a:solidFill>
                            <a:schemeClr val="bg1"/>
                          </a:solidFill>
                        </a:rPr>
                        <a:t>Платформа</a:t>
                      </a:r>
                      <a:endParaRPr lang="ru-RU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</a:rPr>
                        <a:t>Итоговый балл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124726"/>
                  </a:ext>
                </a:extLst>
              </a:tr>
              <a:tr h="42479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</a:rPr>
                        <a:t>Itch.io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>
                          <a:solidFill>
                            <a:schemeClr val="bg1"/>
                          </a:solidFill>
                        </a:rPr>
                        <a:t>8.2</a:t>
                      </a:r>
                      <a:endParaRPr lang="ru-RU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185631"/>
                  </a:ext>
                </a:extLst>
              </a:tr>
              <a:tr h="42479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</a:rPr>
                        <a:t>Game Jolt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</a:rPr>
                        <a:t>7.8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184840"/>
                  </a:ext>
                </a:extLst>
              </a:tr>
              <a:tr h="42479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</a:rPr>
                        <a:t>Steam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</a:rPr>
                        <a:t>6.6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8110"/>
                  </a:ext>
                </a:extLst>
              </a:tr>
              <a:tr h="42479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bg1"/>
                          </a:solidFill>
                        </a:rPr>
                        <a:t>GOG.com</a:t>
                      </a:r>
                      <a:endParaRPr 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>
                          <a:solidFill>
                            <a:schemeClr val="bg1"/>
                          </a:solidFill>
                        </a:rPr>
                        <a:t>5.8</a:t>
                      </a:r>
                      <a:endParaRPr lang="ru-RU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240309"/>
                  </a:ext>
                </a:extLst>
              </a:tr>
              <a:tr h="42479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bg1"/>
                          </a:solidFill>
                        </a:rPr>
                        <a:t>Indie.io</a:t>
                      </a:r>
                      <a:endParaRPr 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</a:rPr>
                        <a:t>5.3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812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CF79DF-F1AE-A9ED-D4A9-1596572C6731}"/>
              </a:ext>
            </a:extLst>
          </p:cNvPr>
          <p:cNvSpPr txBox="1"/>
          <p:nvPr/>
        </p:nvSpPr>
        <p:spPr>
          <a:xfrm>
            <a:off x="6096000" y="1765739"/>
            <a:ext cx="58787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✓ Простая публикация игр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✓ Запуск игр в браузере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✓ Обратная связь между игроками и разработчиками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✓ Единая система ролей и модерации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6D412-5F76-A841-3D6A-644AFBE86C29}"/>
              </a:ext>
            </a:extLst>
          </p:cNvPr>
          <p:cNvSpPr txBox="1"/>
          <p:nvPr/>
        </p:nvSpPr>
        <p:spPr>
          <a:xfrm>
            <a:off x="6182986" y="5046304"/>
            <a:ext cx="25776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MYNG объединяет преимущества Itch.io и Game </a:t>
            </a:r>
            <a:r>
              <a:rPr lang="ru-RU" b="1" dirty="0" err="1">
                <a:solidFill>
                  <a:schemeClr val="bg1"/>
                </a:solidFill>
              </a:rPr>
              <a:t>Jolt</a:t>
            </a:r>
            <a:r>
              <a:rPr lang="ru-RU" b="1" dirty="0">
                <a:solidFill>
                  <a:schemeClr val="bg1"/>
                </a:solidFill>
              </a:rPr>
              <a:t>, сохраняя низкий порог входа для инди-разработчиков.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EBCA14B-A9F0-7B2E-B135-DA1A698BF09B}"/>
              </a:ext>
            </a:extLst>
          </p:cNvPr>
          <p:cNvCxnSpPr/>
          <p:nvPr/>
        </p:nvCxnSpPr>
        <p:spPr>
          <a:xfrm>
            <a:off x="6187966" y="1612256"/>
            <a:ext cx="1889760" cy="0"/>
          </a:xfrm>
          <a:prstGeom prst="line">
            <a:avLst/>
          </a:prstGeom>
          <a:ln w="76200">
            <a:solidFill>
              <a:srgbClr val="5D7D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5F37FDD-4E31-71F0-A23A-F4225E7389F6}"/>
              </a:ext>
            </a:extLst>
          </p:cNvPr>
          <p:cNvCxnSpPr/>
          <p:nvPr/>
        </p:nvCxnSpPr>
        <p:spPr>
          <a:xfrm>
            <a:off x="6251028" y="4937076"/>
            <a:ext cx="1889760" cy="0"/>
          </a:xfrm>
          <a:prstGeom prst="line">
            <a:avLst/>
          </a:prstGeom>
          <a:ln w="76200">
            <a:solidFill>
              <a:srgbClr val="5D7D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 descr="Изображение выглядит как Человеческое лицо, мультфильм, текст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BE59F6-3F55-5604-E8E5-5AB0EA7B8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647" y="2760544"/>
            <a:ext cx="3313627" cy="3472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21529CBB-85AB-563B-221D-92978E870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184" y="1359589"/>
            <a:ext cx="1797437" cy="1797437"/>
          </a:xfrm>
          <a:prstGeom prst="rect">
            <a:avLst/>
          </a:prstGeom>
        </p:spPr>
      </p:pic>
      <p:pic>
        <p:nvPicPr>
          <p:cNvPr id="15" name="Picture 4" descr="Picture background">
            <a:extLst>
              <a:ext uri="{FF2B5EF4-FFF2-40B4-BE49-F238E27FC236}">
                <a16:creationId xmlns:a16="http://schemas.microsoft.com/office/drawing/2014/main" id="{A876E3FA-0037-2898-5D7B-DC6DCCF3E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421" y="3283197"/>
            <a:ext cx="1663462" cy="148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Picture background">
            <a:extLst>
              <a:ext uri="{FF2B5EF4-FFF2-40B4-BE49-F238E27FC236}">
                <a16:creationId xmlns:a16="http://schemas.microsoft.com/office/drawing/2014/main" id="{CA931EBE-583C-3993-1797-574773F67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70" y="4165186"/>
            <a:ext cx="3636556" cy="116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Picture background">
            <a:extLst>
              <a:ext uri="{FF2B5EF4-FFF2-40B4-BE49-F238E27FC236}">
                <a16:creationId xmlns:a16="http://schemas.microsoft.com/office/drawing/2014/main" id="{7701B910-3A20-95FD-9A6A-DB1C200D79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71" t="12746" r="29994" b="30094"/>
          <a:stretch/>
        </p:blipFill>
        <p:spPr bwMode="auto">
          <a:xfrm>
            <a:off x="1173856" y="5046304"/>
            <a:ext cx="1755474" cy="169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Picture background">
            <a:extLst>
              <a:ext uri="{FF2B5EF4-FFF2-40B4-BE49-F238E27FC236}">
                <a16:creationId xmlns:a16="http://schemas.microsoft.com/office/drawing/2014/main" id="{2AABFF1D-54A4-47FE-E418-D72978592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160" y="5201695"/>
            <a:ext cx="1351992" cy="13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7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0A65-1908-4A1F-B097-08779896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8372"/>
            <a:ext cx="12192000" cy="825512"/>
          </a:xfrm>
        </p:spPr>
        <p:txBody>
          <a:bodyPr/>
          <a:lstStyle/>
          <a:p>
            <a:pPr algn="ctr"/>
            <a:r>
              <a:rPr lang="ru-RU" dirty="0"/>
              <a:t>Выбор технологий бэкенда</a:t>
            </a:r>
            <a:endParaRPr lang="en-US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E266F22-83E6-4897-8FE9-DF04480C14A3}"/>
              </a:ext>
            </a:extLst>
          </p:cNvPr>
          <p:cNvSpPr/>
          <p:nvPr/>
        </p:nvSpPr>
        <p:spPr>
          <a:xfrm>
            <a:off x="518685" y="1481358"/>
            <a:ext cx="2016410" cy="825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3"/>
                </a:solidFill>
                <a:latin typeface="+mj-lt"/>
              </a:rPr>
              <a:t>Java 17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3C08093-3B5F-B8F2-92B0-21029719B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85" y="2230401"/>
            <a:ext cx="44126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LTS-версия 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Надёжность и производительность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24753-94D7-6182-AD75-F57ED3AE9D3B}"/>
              </a:ext>
            </a:extLst>
          </p:cNvPr>
          <p:cNvSpPr txBox="1"/>
          <p:nvPr/>
        </p:nvSpPr>
        <p:spPr>
          <a:xfrm>
            <a:off x="496613" y="4885415"/>
            <a:ext cx="2060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latin typeface="+mj-lt"/>
              </a:rPr>
              <a:t>Spring Boot</a:t>
            </a:r>
            <a:endParaRPr lang="ru-RU" sz="28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A9ABF0A-F015-FDF3-3843-193D877FF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85" y="5424023"/>
            <a:ext cx="55599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altLang="ru-RU" sz="2000" dirty="0">
                <a:solidFill>
                  <a:srgbClr val="1A202C"/>
                </a:solidFill>
              </a:rPr>
              <a:t>Быстрая разработка веб-приложения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altLang="ru-RU" sz="2000" dirty="0">
                <a:solidFill>
                  <a:srgbClr val="1A202C"/>
                </a:solidFill>
              </a:rPr>
              <a:t>Встроенный сервер </a:t>
            </a:r>
            <a:r>
              <a:rPr lang="ru-RU" altLang="ru-RU" sz="2000" dirty="0" err="1">
                <a:solidFill>
                  <a:srgbClr val="1A202C"/>
                </a:solidFill>
              </a:rPr>
              <a:t>Tomcat</a:t>
            </a:r>
            <a:r>
              <a:rPr lang="ru-RU" altLang="ru-RU" sz="2000" dirty="0">
                <a:solidFill>
                  <a:srgbClr val="1A202C"/>
                </a:solidFill>
              </a:rPr>
              <a:t>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altLang="ru-RU" sz="2000" dirty="0">
                <a:solidFill>
                  <a:srgbClr val="1A202C"/>
                </a:solidFill>
              </a:rPr>
              <a:t>Управление зависимостями и транзакциями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99D28F-6227-8375-C3CF-1BC627D21DF2}"/>
              </a:ext>
            </a:extLst>
          </p:cNvPr>
          <p:cNvSpPr/>
          <p:nvPr/>
        </p:nvSpPr>
        <p:spPr>
          <a:xfrm>
            <a:off x="593807" y="5370445"/>
            <a:ext cx="2131219" cy="107156"/>
          </a:xfrm>
          <a:prstGeom prst="rect">
            <a:avLst/>
          </a:prstGeom>
          <a:solidFill>
            <a:srgbClr val="5D7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5CA82-08F6-9CDF-8ED5-EA397E3328BA}"/>
              </a:ext>
            </a:extLst>
          </p:cNvPr>
          <p:cNvSpPr txBox="1"/>
          <p:nvPr/>
        </p:nvSpPr>
        <p:spPr>
          <a:xfrm>
            <a:off x="6553200" y="2815191"/>
            <a:ext cx="5549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latin typeface="+mj-lt"/>
              </a:rPr>
              <a:t>Spring Data JPA + Hibernate</a:t>
            </a:r>
            <a:endParaRPr lang="ru-RU" sz="28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7A52155-7D81-D89C-88E4-B3D8220ECF0A}"/>
              </a:ext>
            </a:extLst>
          </p:cNvPr>
          <p:cNvSpPr/>
          <p:nvPr/>
        </p:nvSpPr>
        <p:spPr>
          <a:xfrm>
            <a:off x="6642100" y="3275555"/>
            <a:ext cx="2131219" cy="107156"/>
          </a:xfrm>
          <a:prstGeom prst="rect">
            <a:avLst/>
          </a:prstGeom>
          <a:solidFill>
            <a:srgbClr val="5D7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AAB53449-474D-BFAC-0DB5-F891B3013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413088"/>
            <a:ext cx="410112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Упрощение работы с БД 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Автоматизация CRUD-операций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DFEC1-FAEC-AE08-CBD8-50C55A2C20E0}"/>
              </a:ext>
            </a:extLst>
          </p:cNvPr>
          <p:cNvSpPr txBox="1"/>
          <p:nvPr/>
        </p:nvSpPr>
        <p:spPr>
          <a:xfrm>
            <a:off x="6553200" y="4362195"/>
            <a:ext cx="563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latin typeface="+mj-lt"/>
              </a:rPr>
              <a:t>MySQL</a:t>
            </a:r>
            <a:endParaRPr lang="ru-RU" sz="28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87047D7B-F366-0748-B6F6-979A3552F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806203"/>
            <a:ext cx="372730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ru-RU" altLang="ru-RU" sz="2000" dirty="0">
              <a:solidFill>
                <a:srgbClr val="1A202C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altLang="ru-RU" sz="2000" dirty="0">
                <a:solidFill>
                  <a:srgbClr val="1A202C"/>
                </a:solidFill>
              </a:rPr>
              <a:t>ACID-транзакции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altLang="ru-RU" sz="2000" dirty="0">
                <a:solidFill>
                  <a:srgbClr val="1A202C"/>
                </a:solidFill>
              </a:rPr>
              <a:t>Надёжное хранение данных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59D1C63-044D-6C6F-1A49-F1F83EDAEB31}"/>
              </a:ext>
            </a:extLst>
          </p:cNvPr>
          <p:cNvSpPr/>
          <p:nvPr/>
        </p:nvSpPr>
        <p:spPr>
          <a:xfrm>
            <a:off x="6642099" y="4900803"/>
            <a:ext cx="2131219" cy="107156"/>
          </a:xfrm>
          <a:prstGeom prst="rect">
            <a:avLst/>
          </a:prstGeom>
          <a:solidFill>
            <a:srgbClr val="5D7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8" name="Picture 10" descr="Java logo transparent PNG 22100214 PNG">
            <a:extLst>
              <a:ext uri="{FF2B5EF4-FFF2-40B4-BE49-F238E27FC236}">
                <a16:creationId xmlns:a16="http://schemas.microsoft.com/office/drawing/2014/main" id="{8F3A419B-BDE2-E8A2-9DFD-2848E5281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3" y="2216209"/>
            <a:ext cx="3175106" cy="317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pring Boot Icon SVG Vector &amp; PNG Free Download | UXWing">
            <a:extLst>
              <a:ext uri="{FF2B5EF4-FFF2-40B4-BE49-F238E27FC236}">
                <a16:creationId xmlns:a16="http://schemas.microsoft.com/office/drawing/2014/main" id="{130ECF19-4ED0-2BEC-3130-15FEFEEBA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745" y="3175693"/>
            <a:ext cx="2079624" cy="207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Hibernate Logo Transparent - Hibernate Java (4998x1387), Png Download">
            <a:extLst>
              <a:ext uri="{FF2B5EF4-FFF2-40B4-BE49-F238E27FC236}">
                <a16:creationId xmlns:a16="http://schemas.microsoft.com/office/drawing/2014/main" id="{78D60908-D313-8407-6237-E071189BD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860" y="1957940"/>
            <a:ext cx="4621480" cy="77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Mysql Logo PNG Images Transparent Background">
            <a:extLst>
              <a:ext uri="{FF2B5EF4-FFF2-40B4-BE49-F238E27FC236}">
                <a16:creationId xmlns:a16="http://schemas.microsoft.com/office/drawing/2014/main" id="{5ED88E8D-3E70-67F5-21FF-53F577FD8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428" y="4538701"/>
            <a:ext cx="3335765" cy="2223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32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73B2-D174-44CE-AD44-1309980A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и обоснование технологий фронтенда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27D18B-7C8E-468A-B89F-DE4EBB57F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01" y="2634147"/>
            <a:ext cx="371315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Интеграция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со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Spring Boot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Динамическая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генерация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HTML-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страниц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Простая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передача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данных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из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backend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5CFB60F-2660-4A57-9E42-485E08E7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173" y="2634147"/>
            <a:ext cx="37131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Быстрая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разработка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интерфейса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Адаптивный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дизайн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Миним</a:t>
            </a:r>
            <a:r>
              <a:rPr kumimoji="0" lang="ru-RU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ум собственного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CSS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3C68276-F206-4BF9-86A5-8F5F4D5EC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0" y="2634147"/>
            <a:ext cx="37131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Быстрая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разработка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интерфейса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Адаптивный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дизайн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Миним</a:t>
            </a:r>
            <a:r>
              <a:rPr kumimoji="0" lang="ru-RU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ум собственного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CSS 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3E2B016-C97A-4279-9604-FE827A2EF5D1}"/>
              </a:ext>
            </a:extLst>
          </p:cNvPr>
          <p:cNvSpPr/>
          <p:nvPr/>
        </p:nvSpPr>
        <p:spPr>
          <a:xfrm>
            <a:off x="512528" y="2198488"/>
            <a:ext cx="3566823" cy="435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chemeClr val="accent3"/>
                </a:solidFill>
                <a:latin typeface="+mj-lt"/>
              </a:rPr>
              <a:t>Thymeleaf</a:t>
            </a:r>
            <a:endParaRPr lang="en-US" sz="32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CC74F77-87F1-40C5-A8C9-C06DC58AC535}"/>
              </a:ext>
            </a:extLst>
          </p:cNvPr>
          <p:cNvSpPr/>
          <p:nvPr/>
        </p:nvSpPr>
        <p:spPr>
          <a:xfrm>
            <a:off x="4703500" y="2198488"/>
            <a:ext cx="3566823" cy="3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/>
              </a:rPr>
              <a:t>Tailwind CSS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D6539DAC-E246-474D-BF2A-2FC195AFD818}"/>
              </a:ext>
            </a:extLst>
          </p:cNvPr>
          <p:cNvSpPr/>
          <p:nvPr/>
        </p:nvSpPr>
        <p:spPr>
          <a:xfrm>
            <a:off x="8625177" y="2198488"/>
            <a:ext cx="3566823" cy="3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/>
              </a:rPr>
              <a:t>JavaScript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7B1F25-5576-479E-91CC-383E0730433B}"/>
              </a:ext>
            </a:extLst>
          </p:cNvPr>
          <p:cNvSpPr txBox="1"/>
          <p:nvPr/>
        </p:nvSpPr>
        <p:spPr>
          <a:xfrm>
            <a:off x="0" y="6326134"/>
            <a:ext cx="12192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300" dirty="0">
                <a:solidFill>
                  <a:srgbClr val="1A202C"/>
                </a:solidFill>
              </a:rPr>
              <a:t>SSR + AJAX обеспечивают высокую скорость работы и удобство использования платформы</a:t>
            </a:r>
            <a:endParaRPr lang="en-US" sz="2300" dirty="0">
              <a:solidFill>
                <a:srgbClr val="1A202C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FD86F6-68E4-4254-E840-2E42A7FF8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700" y="4265363"/>
            <a:ext cx="1984375" cy="1984375"/>
          </a:xfrm>
          <a:prstGeom prst="rect">
            <a:avLst/>
          </a:prstGeom>
        </p:spPr>
      </p:pic>
      <p:pic>
        <p:nvPicPr>
          <p:cNvPr id="3078" name="Picture 6" descr="Tailwind CSS Logo Rounded 67565433 PNG">
            <a:extLst>
              <a:ext uri="{FF2B5EF4-FFF2-40B4-BE49-F238E27FC236}">
                <a16:creationId xmlns:a16="http://schemas.microsoft.com/office/drawing/2014/main" id="{22DC518B-7249-5E40-6903-660009088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449" y="4033982"/>
            <a:ext cx="2419102" cy="241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Javascript Logo Transparent">
            <a:extLst>
              <a:ext uri="{FF2B5EF4-FFF2-40B4-BE49-F238E27FC236}">
                <a16:creationId xmlns:a16="http://schemas.microsoft.com/office/drawing/2014/main" id="{55B42BC9-71D4-9621-97BB-D6B4FBB0E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58" y="3976635"/>
            <a:ext cx="2152969" cy="233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05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4CED-D356-4DD7-B10D-9A3C588C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диаграмма классов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D453C83-5CE8-4F56-9CB6-75F0D1F83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" y="2274100"/>
            <a:ext cx="1200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8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0A1794-650B-4FA5-A764-9DE719CEF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6555"/>
            <a:ext cx="10972800" cy="827820"/>
          </a:xfrm>
        </p:spPr>
        <p:txBody>
          <a:bodyPr/>
          <a:lstStyle/>
          <a:p>
            <a:r>
              <a:rPr lang="ru-RU" dirty="0"/>
              <a:t>Реализация: вход/регистрация</a:t>
            </a:r>
            <a:endParaRPr lang="en-US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22B6A3A-0183-4702-B26D-BE915C1E100B}"/>
              </a:ext>
            </a:extLst>
          </p:cNvPr>
          <p:cNvSpPr/>
          <p:nvPr/>
        </p:nvSpPr>
        <p:spPr>
          <a:xfrm>
            <a:off x="120729" y="1561695"/>
            <a:ext cx="3566823" cy="3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3"/>
                </a:solidFill>
                <a:latin typeface="+mj-lt"/>
              </a:rPr>
              <a:t>Вход</a:t>
            </a:r>
            <a:endParaRPr lang="en-US" sz="32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67DBFE8-8ACC-47F3-B8FB-E4C1D628DB5F}"/>
              </a:ext>
            </a:extLst>
          </p:cNvPr>
          <p:cNvSpPr/>
          <p:nvPr/>
        </p:nvSpPr>
        <p:spPr>
          <a:xfrm>
            <a:off x="7278825" y="4485342"/>
            <a:ext cx="3566823" cy="356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3"/>
                </a:solidFill>
                <a:latin typeface="+mj-lt"/>
              </a:rPr>
              <a:t>Регистрация</a:t>
            </a:r>
            <a:endParaRPr lang="en-US" sz="32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5C278D-406B-A2ED-3EC9-328D1470B0D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4907" y="2073761"/>
            <a:ext cx="5165773" cy="10156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dirty="0"/>
              <a:t>Реализован средствами Spring Security 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dirty="0"/>
              <a:t>Поддерживается вход по </a:t>
            </a:r>
            <a:r>
              <a:rPr lang="ru-RU" altLang="ru-RU" dirty="0" err="1"/>
              <a:t>email</a:t>
            </a:r>
            <a:r>
              <a:rPr lang="ru-RU" altLang="ru-RU" dirty="0"/>
              <a:t> или логину 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dirty="0"/>
              <a:t>Ролевая модель пользователей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A18D234-26E1-9695-223D-551C497D4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825" y="4927937"/>
            <a:ext cx="50020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chemeClr val="bg1"/>
                </a:solidFill>
              </a:rPr>
              <a:t>Проверка корректности данных 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chemeClr val="bg1"/>
                </a:solidFill>
              </a:rPr>
              <a:t>Контроль уникальности логина и </a:t>
            </a:r>
            <a:r>
              <a:rPr lang="ru-RU" altLang="ru-RU" sz="2000" dirty="0" err="1">
                <a:solidFill>
                  <a:schemeClr val="bg1"/>
                </a:solidFill>
              </a:rPr>
              <a:t>email</a:t>
            </a:r>
            <a:r>
              <a:rPr lang="ru-RU" altLang="ru-RU" sz="2000" dirty="0">
                <a:solidFill>
                  <a:schemeClr val="bg1"/>
                </a:solidFill>
              </a:rPr>
              <a:t> 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chemeClr val="bg1"/>
                </a:solidFill>
              </a:rPr>
              <a:t>Транзакционное создание пользователя 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F436099-1B13-90ED-1761-95E58098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904" y="1584587"/>
            <a:ext cx="4413588" cy="18517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F619642-322B-50B6-4D3A-E30266D320B6}"/>
              </a:ext>
            </a:extLst>
          </p:cNvPr>
          <p:cNvSpPr txBox="1"/>
          <p:nvPr/>
        </p:nvSpPr>
        <p:spPr>
          <a:xfrm>
            <a:off x="89727" y="321977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CustomUserDetailService</a:t>
            </a:r>
            <a:endParaRPr lang="ru-RU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8E8281-8500-6CEC-815F-A91F59BBB36B}"/>
              </a:ext>
            </a:extLst>
          </p:cNvPr>
          <p:cNvSpPr txBox="1"/>
          <p:nvPr/>
        </p:nvSpPr>
        <p:spPr>
          <a:xfrm>
            <a:off x="6658136" y="1229423"/>
            <a:ext cx="164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SecurityConfig</a:t>
            </a:r>
            <a:endParaRPr lang="ru-RU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282EEA8-6854-0748-86F2-48CCA38A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9" y="3606801"/>
            <a:ext cx="7182546" cy="3158694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287ADD6-8182-DBDA-8832-449290125101}"/>
              </a:ext>
            </a:extLst>
          </p:cNvPr>
          <p:cNvSpPr/>
          <p:nvPr/>
        </p:nvSpPr>
        <p:spPr>
          <a:xfrm>
            <a:off x="215899" y="1966605"/>
            <a:ext cx="2131219" cy="107156"/>
          </a:xfrm>
          <a:prstGeom prst="rect">
            <a:avLst/>
          </a:prstGeom>
          <a:solidFill>
            <a:srgbClr val="5D7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18976CA-5200-2706-C74C-F5568675F534}"/>
              </a:ext>
            </a:extLst>
          </p:cNvPr>
          <p:cNvSpPr/>
          <p:nvPr/>
        </p:nvSpPr>
        <p:spPr>
          <a:xfrm>
            <a:off x="7391399" y="4870787"/>
            <a:ext cx="2131219" cy="107156"/>
          </a:xfrm>
          <a:prstGeom prst="rect">
            <a:avLst/>
          </a:prstGeom>
          <a:solidFill>
            <a:srgbClr val="5D7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2750125-19F9-DE96-FFC8-B1512BD80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073" y="3571436"/>
            <a:ext cx="4139397" cy="3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8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FEBA-445F-4A11-A955-9B0D4F6B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1"/>
            <a:ext cx="10972800" cy="613526"/>
          </a:xfrm>
        </p:spPr>
        <p:txBody>
          <a:bodyPr/>
          <a:lstStyle/>
          <a:p>
            <a:r>
              <a:rPr lang="ru-RU" dirty="0"/>
              <a:t>Реализация: вход/регистрация</a:t>
            </a:r>
            <a:endParaRPr lang="en-US" dirty="0"/>
          </a:p>
        </p:txBody>
      </p:sp>
      <p:pic>
        <p:nvPicPr>
          <p:cNvPr id="27" name="Рисунок 6">
            <a:extLst>
              <a:ext uri="{FF2B5EF4-FFF2-40B4-BE49-F238E27FC236}">
                <a16:creationId xmlns:a16="http://schemas.microsoft.com/office/drawing/2014/main" id="{F7108A9A-7C4D-4E71-8421-F694B416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9" y="1192105"/>
            <a:ext cx="5685960" cy="5191529"/>
          </a:xfrm>
          <a:prstGeom prst="rect">
            <a:avLst/>
          </a:prstGeom>
        </p:spPr>
      </p:pic>
      <p:pic>
        <p:nvPicPr>
          <p:cNvPr id="28" name="Рисунок 9">
            <a:extLst>
              <a:ext uri="{FF2B5EF4-FFF2-40B4-BE49-F238E27FC236}">
                <a16:creationId xmlns:a16="http://schemas.microsoft.com/office/drawing/2014/main" id="{868AC50A-A031-4340-9F36-27C7F30A5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833" y="754450"/>
            <a:ext cx="2096431" cy="3533795"/>
          </a:xfrm>
          <a:prstGeom prst="rect">
            <a:avLst/>
          </a:prstGeom>
        </p:spPr>
      </p:pic>
      <p:pic>
        <p:nvPicPr>
          <p:cNvPr id="29" name="Рисунок 11">
            <a:extLst>
              <a:ext uri="{FF2B5EF4-FFF2-40B4-BE49-F238E27FC236}">
                <a16:creationId xmlns:a16="http://schemas.microsoft.com/office/drawing/2014/main" id="{0086B9EF-216E-4BEB-AC72-531F35A43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518" y="741118"/>
            <a:ext cx="2324911" cy="3546657"/>
          </a:xfrm>
          <a:prstGeom prst="rect">
            <a:avLst/>
          </a:prstGeom>
        </p:spPr>
      </p:pic>
      <p:pic>
        <p:nvPicPr>
          <p:cNvPr id="30" name="Рисунок 13">
            <a:extLst>
              <a:ext uri="{FF2B5EF4-FFF2-40B4-BE49-F238E27FC236}">
                <a16:creationId xmlns:a16="http://schemas.microsoft.com/office/drawing/2014/main" id="{B34C47FC-6A20-47AD-85E8-B668B3389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243" y="4437630"/>
            <a:ext cx="6168300" cy="2419803"/>
          </a:xfrm>
          <a:prstGeom prst="rect">
            <a:avLst/>
          </a:prstGeom>
        </p:spPr>
      </p:pic>
      <p:cxnSp>
        <p:nvCxnSpPr>
          <p:cNvPr id="31" name="Прямая со стрелкой 17">
            <a:extLst>
              <a:ext uri="{FF2B5EF4-FFF2-40B4-BE49-F238E27FC236}">
                <a16:creationId xmlns:a16="http://schemas.microsoft.com/office/drawing/2014/main" id="{C195E958-91C5-46D7-BBB2-E0B435ED5C3E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5330353" y="2521348"/>
            <a:ext cx="228480" cy="90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19">
            <a:extLst>
              <a:ext uri="{FF2B5EF4-FFF2-40B4-BE49-F238E27FC236}">
                <a16:creationId xmlns:a16="http://schemas.microsoft.com/office/drawing/2014/main" id="{0DBAA3FB-7E54-48C6-B781-D480E1801A7F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7655264" y="2514447"/>
            <a:ext cx="615254" cy="6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22">
            <a:extLst>
              <a:ext uri="{FF2B5EF4-FFF2-40B4-BE49-F238E27FC236}">
                <a16:creationId xmlns:a16="http://schemas.microsoft.com/office/drawing/2014/main" id="{BCC34FD4-BA0C-4D27-963B-0B168B6263D6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8643393" y="4287775"/>
            <a:ext cx="789581" cy="14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815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0E76-48C4-4F5A-8001-961B8D29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Реализация: каталог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E7F24-0540-4152-A2A2-8E0B8529119A}"/>
              </a:ext>
            </a:extLst>
          </p:cNvPr>
          <p:cNvSpPr txBox="1"/>
          <p:nvPr/>
        </p:nvSpPr>
        <p:spPr>
          <a:xfrm>
            <a:off x="594360" y="2501900"/>
            <a:ext cx="1159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GET “/catalog” →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getCatalogGames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filterDto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 pageable) →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findCatalogGames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(search, genre, 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DDA3B-BF4A-44AF-AD0D-BD6C74D73F28}"/>
              </a:ext>
            </a:extLst>
          </p:cNvPr>
          <p:cNvSpPr txBox="1"/>
          <p:nvPr/>
        </p:nvSpPr>
        <p:spPr>
          <a:xfrm>
            <a:off x="594360" y="3086880"/>
            <a:ext cx="56413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@Transactional(readOnly = true)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public Page&lt;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CatalogGameDTO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getFilteredGames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GameFilterDTO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filter,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Pageable pageable) {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Sort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sort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buildAggregateSort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filter.getSort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Pageable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sortedPageable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PageRequest.of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pageable.getPageNumber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pageable.getPageSize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sort);</a:t>
            </a:r>
          </a:p>
          <a:p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Page&lt;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CatalogGameDTO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&gt; page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gameRepository.findCatalogGames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filter.getSearch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filter.getGenre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filter.getTags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filter.getMinRating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sortedPageable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53EAC-E022-41B6-90A5-D8C4DAC7ED92}"/>
              </a:ext>
            </a:extLst>
          </p:cNvPr>
          <p:cNvSpPr txBox="1"/>
          <p:nvPr/>
        </p:nvSpPr>
        <p:spPr>
          <a:xfrm>
            <a:off x="6235700" y="3086880"/>
            <a:ext cx="609600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@Query("""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SELECT new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ru.vlsu.myng.dto.CatalogGameDTO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(g.id, g.name,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g.descr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g.genre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d.username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g.averageRating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g.reviewCount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g.totalViews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g.totalLaunches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g.firstReleaseDate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g.image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FROM Game g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LEFT JOIN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g.developer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d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WHERE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EXISTS (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    SELECT 1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    FROM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gv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WHERE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gv.game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= g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    AND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gv.moderationVerdict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IS NOT NULL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    AND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gv.moderationVerdict.approved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= true 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AND ( :search ...)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AND ( :genre IS NULL OR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g.genre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= :genre 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AND ( :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minRating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IS NULL OR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g.averageRating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&gt;= :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minRating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AND ( :tags ... 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""")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   Page&lt;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CatalogGameDTO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findCatalogGames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( @Param("search") String search, @Param("genre")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Game.Genre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genre, @Param("tags") Set&lt;String&gt; tags, @Param("minRating") Double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minRating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, Pageable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pageable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745956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4BB1-CE0C-4E37-AD43-880F00BF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143"/>
          </a:xfrm>
        </p:spPr>
        <p:txBody>
          <a:bodyPr/>
          <a:lstStyle/>
          <a:p>
            <a:r>
              <a:rPr lang="ru-RU" dirty="0"/>
              <a:t>Реализация: каталог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596B4-2463-4216-B253-F51F7E358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019749"/>
            <a:ext cx="7050981" cy="5884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C852E0-03A8-4F36-9DCE-F217DB4EDE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0" r="52300"/>
          <a:stretch/>
        </p:blipFill>
        <p:spPr>
          <a:xfrm>
            <a:off x="7649747" y="1019749"/>
            <a:ext cx="4104931" cy="579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01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989AD2-C753-4B76-A979-182FF2CA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718800" cy="762000"/>
          </a:xfrm>
        </p:spPr>
        <p:txBody>
          <a:bodyPr/>
          <a:lstStyle/>
          <a:p>
            <a:r>
              <a:rPr lang="ru-RU" dirty="0"/>
              <a:t>Реализация: главная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F16471-CB17-5B0F-F759-16B5FD74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8"/>
          <a:stretch/>
        </p:blipFill>
        <p:spPr>
          <a:xfrm>
            <a:off x="0" y="896228"/>
            <a:ext cx="6524172" cy="58135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901DC5-3A81-50CD-3472-AB75495B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946" y="-1"/>
            <a:ext cx="5742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59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7E05-FA68-4BC2-BDD4-C78C2C32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42" y="500116"/>
            <a:ext cx="5428343" cy="2354026"/>
          </a:xfrm>
        </p:spPr>
        <p:txBody>
          <a:bodyPr/>
          <a:lstStyle/>
          <a:p>
            <a:r>
              <a:rPr lang="ru-RU" dirty="0"/>
              <a:t>Реализация: главная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D818-A2DF-4FCC-98DB-7A5C71B1EC35}"/>
              </a:ext>
            </a:extLst>
          </p:cNvPr>
          <p:cNvSpPr txBox="1"/>
          <p:nvPr/>
        </p:nvSpPr>
        <p:spPr>
          <a:xfrm>
            <a:off x="5900420" y="3829467"/>
            <a:ext cx="6096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@Transactional(readOnly = true)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public List&lt;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CatalogGameDTO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getPopularGames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(int limit)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GameFilterDTO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filter = new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GameFilterDTO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filter.setSearch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(null);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filter.setTags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(null);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filter.setGenre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(null);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filter.setMinRating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(null);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filter.setSort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("popular");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var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getFilteredGames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(filter,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PageRequest.of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(0, limit));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catalogGames.getContent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DE913-63EF-421E-9AFC-B27B6BF2A19E}"/>
              </a:ext>
            </a:extLst>
          </p:cNvPr>
          <p:cNvSpPr txBox="1"/>
          <p:nvPr/>
        </p:nvSpPr>
        <p:spPr>
          <a:xfrm>
            <a:off x="4172857" y="661467"/>
            <a:ext cx="80191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@GetMapping({ "/", "/index" })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public String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indexPage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(Model model)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featuredGame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",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gameService.getMostLaunchedGame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newestGame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",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gameService.getNewestGame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bestOfMonth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",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gameService.getTopRatingGameMonth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popularGames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",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gameService.getPopularGames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(6));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"index";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6C795-4B7A-D013-2FC6-83050188AEB9}"/>
              </a:ext>
            </a:extLst>
          </p:cNvPr>
          <p:cNvSpPr txBox="1"/>
          <p:nvPr/>
        </p:nvSpPr>
        <p:spPr>
          <a:xfrm>
            <a:off x="375557" y="3748792"/>
            <a:ext cx="552486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Особенности реализации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Серверный рендеринг через </a:t>
            </a:r>
            <a:r>
              <a:rPr lang="ru-RU" sz="2000" dirty="0" err="1">
                <a:solidFill>
                  <a:srgbClr val="1A202C"/>
                </a:solidFill>
              </a:rPr>
              <a:t>Thymeleaf</a:t>
            </a:r>
            <a:r>
              <a:rPr lang="ru-RU" sz="2000" dirty="0">
                <a:solidFill>
                  <a:srgbClr val="1A202C"/>
                </a:solidFill>
              </a:rPr>
              <a:t>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Автоматическое формирование витрин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Получение данных через сервисный слой</a:t>
            </a:r>
          </a:p>
        </p:txBody>
      </p:sp>
    </p:spTree>
    <p:extLst>
      <p:ext uri="{BB962C8B-B14F-4D97-AF65-F5344CB8AC3E}">
        <p14:creationId xmlns:p14="http://schemas.microsoft.com/office/powerpoint/2010/main" val="250963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A8F5-94AE-4140-88AB-AC76F488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334106"/>
            <a:ext cx="12192000" cy="856343"/>
          </a:xfrm>
        </p:spPr>
        <p:txBody>
          <a:bodyPr/>
          <a:lstStyle/>
          <a:p>
            <a:r>
              <a:rPr lang="ru-RU" dirty="0"/>
              <a:t>Страница игры</a:t>
            </a:r>
            <a:endParaRPr lang="en-US" dirty="0"/>
          </a:p>
        </p:txBody>
      </p:sp>
      <p:pic>
        <p:nvPicPr>
          <p:cNvPr id="7" name="Рисунок 1">
            <a:extLst>
              <a:ext uri="{FF2B5EF4-FFF2-40B4-BE49-F238E27FC236}">
                <a16:creationId xmlns:a16="http://schemas.microsoft.com/office/drawing/2014/main" id="{FA8AAC29-E115-85FF-0A1C-5D468E7F9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904" y="-17535"/>
            <a:ext cx="5642096" cy="6875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4E0542-4777-1BE6-FEF9-6B7FF6EE9FD4}"/>
              </a:ext>
            </a:extLst>
          </p:cNvPr>
          <p:cNvSpPr txBox="1"/>
          <p:nvPr/>
        </p:nvSpPr>
        <p:spPr>
          <a:xfrm>
            <a:off x="217714" y="1542090"/>
            <a:ext cx="6262914" cy="17081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Возможности игрока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Запуск выбранной версии игры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Добавление игры в коллекцию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Написание отзывов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Отправка жалоб на отзывы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F8C4F-DDD4-6210-9A90-8BA516635854}"/>
              </a:ext>
            </a:extLst>
          </p:cNvPr>
          <p:cNvSpPr txBox="1"/>
          <p:nvPr/>
        </p:nvSpPr>
        <p:spPr>
          <a:xfrm>
            <a:off x="217714" y="3679927"/>
            <a:ext cx="626291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Возможности разработчика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Редактирование информации об игре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Загрузка новых версий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Управление опубликованными версиями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77226E-830B-EF04-7C8E-2818CE994A73}"/>
              </a:ext>
            </a:extLst>
          </p:cNvPr>
          <p:cNvSpPr txBox="1"/>
          <p:nvPr/>
        </p:nvSpPr>
        <p:spPr>
          <a:xfrm>
            <a:off x="217714" y="5509987"/>
            <a:ext cx="626291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Интересная особенность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Асинхронная загрузка отзывов без перезагрузки страницы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A45F4-ABDB-C481-ABE0-36317D0B8D37}"/>
              </a:ext>
            </a:extLst>
          </p:cNvPr>
          <p:cNvSpPr txBox="1"/>
          <p:nvPr/>
        </p:nvSpPr>
        <p:spPr>
          <a:xfrm>
            <a:off x="6480628" y="4089890"/>
            <a:ext cx="204651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Нажатие кнопки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      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AJAX </a:t>
            </a:r>
            <a:r>
              <a:rPr lang="ru-RU" sz="1600" b="1" dirty="0" err="1">
                <a:solidFill>
                  <a:schemeClr val="accent3"/>
                </a:solidFill>
                <a:latin typeface="+mj-lt"/>
              </a:rPr>
              <a:t>Fetch</a:t>
            </a:r>
            <a:endParaRPr lang="ru-RU" sz="1600" b="1" dirty="0">
              <a:solidFill>
                <a:schemeClr val="accent3"/>
              </a:solidFill>
              <a:latin typeface="+mj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      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Spring MVC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      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JPQL-запрос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      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HTML-фрагмент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      ↓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>
                <a:solidFill>
                  <a:schemeClr val="accent3"/>
                </a:solidFill>
                <a:latin typeface="+mj-lt"/>
              </a:rPr>
              <a:t>Обновление DOM</a:t>
            </a:r>
          </a:p>
        </p:txBody>
      </p:sp>
    </p:spTree>
    <p:extLst>
      <p:ext uri="{BB962C8B-B14F-4D97-AF65-F5344CB8AC3E}">
        <p14:creationId xmlns:p14="http://schemas.microsoft.com/office/powerpoint/2010/main" val="3055326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05E7D9-C14A-477F-8220-F4B790A0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Реализация: страница запущенной игры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0535E4-ED78-4CFA-9B65-1B09C2B3C0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915118"/>
            <a:ext cx="3987800" cy="1669326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└── {</a:t>
            </a:r>
            <a:r>
              <a:rPr lang="en-US" sz="1400" dirty="0" err="1">
                <a:latin typeface="Consolas" panose="020B0609020204030204" pitchFamily="49" charset="0"/>
              </a:rPr>
              <a:t>app.storage.path</a:t>
            </a:r>
            <a:r>
              <a:rPr lang="en-US" sz="1400" dirty="0">
                <a:latin typeface="Consolas" panose="020B0609020204030204" pitchFamily="49" charset="0"/>
              </a:rPr>
              <a:t>}/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└── </a:t>
            </a:r>
            <a:r>
              <a:rPr lang="en-US" sz="1400" dirty="0" err="1">
                <a:latin typeface="Consolas" panose="020B0609020204030204" pitchFamily="49" charset="0"/>
              </a:rPr>
              <a:t>gamefiles</a:t>
            </a:r>
            <a:r>
              <a:rPr lang="en-US" sz="1400" dirty="0">
                <a:latin typeface="Consolas" panose="020B0609020204030204" pitchFamily="49" charset="0"/>
              </a:rPr>
              <a:t>/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└── game_{id}/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    └── </a:t>
            </a:r>
            <a:r>
              <a:rPr lang="en-US" sz="1400" dirty="0" err="1">
                <a:latin typeface="Consolas" panose="020B0609020204030204" pitchFamily="49" charset="0"/>
              </a:rPr>
              <a:t>ver</a:t>
            </a:r>
            <a:r>
              <a:rPr lang="en-US" sz="1400" dirty="0">
                <a:latin typeface="Consolas" panose="020B0609020204030204" pitchFamily="49" charset="0"/>
              </a:rPr>
              <a:t>_{id}/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        ├── entry_point.html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        ├── </a:t>
            </a:r>
            <a:r>
              <a:rPr lang="en-US" sz="1400" dirty="0" err="1">
                <a:latin typeface="Consolas" panose="020B0609020204030204" pitchFamily="49" charset="0"/>
              </a:rPr>
              <a:t>css</a:t>
            </a:r>
            <a:r>
              <a:rPr lang="en-US" sz="1400" dirty="0">
                <a:latin typeface="Consolas" panose="020B0609020204030204" pitchFamily="49" charset="0"/>
              </a:rPr>
              <a:t>/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        ├── assets/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        └──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AC587-99AC-479F-84F7-4AC175C6B891}"/>
              </a:ext>
            </a:extLst>
          </p:cNvPr>
          <p:cNvSpPr txBox="1"/>
          <p:nvPr/>
        </p:nvSpPr>
        <p:spPr>
          <a:xfrm>
            <a:off x="594360" y="871603"/>
            <a:ext cx="672652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@GetMapping("/running-game/{versionId}")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public String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runningGamePage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(@PathVariable Integer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Model model)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version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gameVersionService.getGameVersionById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String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entryPoint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gameVersionService.resolveEntryPoint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(version);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gameService.incrementGameTotalLaunches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version.getGame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("version", version);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("game",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version.getGame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model.addAttribute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entryPoint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",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entryPoint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return 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running_game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";</a:t>
            </a:r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49753-3A47-49E7-9430-BED5A1761926}"/>
              </a:ext>
            </a:extLst>
          </p:cNvPr>
          <p:cNvSpPr txBox="1"/>
          <p:nvPr/>
        </p:nvSpPr>
        <p:spPr>
          <a:xfrm>
            <a:off x="457200" y="2955190"/>
            <a:ext cx="5638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&lt;iframe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th:src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="${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entryPoint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}“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	sandbox="allow-scripts allow-same-origin allow-pointer-lock"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	class="w-full h-full border-0"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	allow="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fullscreen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autoplay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"&gt;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&lt;/iframe&gt;</a:t>
            </a:r>
          </a:p>
        </p:txBody>
      </p:sp>
    </p:spTree>
    <p:extLst>
      <p:ext uri="{BB962C8B-B14F-4D97-AF65-F5344CB8AC3E}">
        <p14:creationId xmlns:p14="http://schemas.microsoft.com/office/powerpoint/2010/main" val="425128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97B01B-5D94-487A-9A68-D6D961E96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1" y="0"/>
            <a:ext cx="12073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74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02520E-AF63-4E5A-874E-CF9EE085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" y="202401"/>
            <a:ext cx="12032343" cy="686600"/>
          </a:xfrm>
        </p:spPr>
        <p:txBody>
          <a:bodyPr/>
          <a:lstStyle/>
          <a:p>
            <a:r>
              <a:rPr lang="ru-RU" dirty="0"/>
              <a:t>Реализация: страница запущенной игры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4AA297-C495-C51E-BC74-5296CD01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" y="889001"/>
            <a:ext cx="6948481" cy="40494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525EAD-E414-457F-E129-FDAB7E0DC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822" y="2808514"/>
            <a:ext cx="6479178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75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FA62-DCC8-4751-9E47-286F7CE6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60725"/>
          </a:xfrm>
        </p:spPr>
        <p:txBody>
          <a:bodyPr/>
          <a:lstStyle/>
          <a:p>
            <a:r>
              <a:rPr lang="ru-RU" dirty="0"/>
              <a:t>Реализация: публикация игры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0EE54-78C7-4B26-A9BC-A6A76A0A9B8F}"/>
              </a:ext>
            </a:extLst>
          </p:cNvPr>
          <p:cNvSpPr txBox="1"/>
          <p:nvPr/>
        </p:nvSpPr>
        <p:spPr>
          <a:xfrm>
            <a:off x="5372100" y="2921793"/>
            <a:ext cx="65405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public void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publishGame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PublishGameRequest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dto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githubService.validateRepoExists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dto.getRepoLink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githubService.validateCommitExists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dto.getRepoLink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(),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dto.getCommitHash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Game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game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= new Game();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game.setName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dto.getTitle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gameRepository.save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(game);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version = new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ModerationVerdict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verdict = new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ModerationVerdict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verdict.setGameVersion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(version);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B9B84D-0276-C362-4C4F-691DA4191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9" y="1539875"/>
            <a:ext cx="5118101" cy="504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6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D7EA19-E18A-4F3E-91FC-2E101D7C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895" y="5625561"/>
            <a:ext cx="6658248" cy="692688"/>
          </a:xfrm>
        </p:spPr>
        <p:txBody>
          <a:bodyPr/>
          <a:lstStyle/>
          <a:p>
            <a:r>
              <a:rPr lang="ru-RU" dirty="0"/>
              <a:t>Реализация: модерация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3EE2F-212A-6D6A-58EF-0EF74F8F455A}"/>
              </a:ext>
            </a:extLst>
          </p:cNvPr>
          <p:cNvSpPr txBox="1"/>
          <p:nvPr/>
        </p:nvSpPr>
        <p:spPr>
          <a:xfrm>
            <a:off x="116115" y="389574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Объекты модерации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3DBF5-1BAA-8247-80BE-7B5F367FC271}"/>
              </a:ext>
            </a:extLst>
          </p:cNvPr>
          <p:cNvSpPr txBox="1"/>
          <p:nvPr/>
        </p:nvSpPr>
        <p:spPr>
          <a:xfrm>
            <a:off x="116115" y="866628"/>
            <a:ext cx="5479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Версии игр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Заявки на получение статуса разработчика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Отзывы пользователей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8647E5-C411-2E21-C6F9-72F78E424024}"/>
              </a:ext>
            </a:extLst>
          </p:cNvPr>
          <p:cNvSpPr txBox="1"/>
          <p:nvPr/>
        </p:nvSpPr>
        <p:spPr>
          <a:xfrm>
            <a:off x="116115" y="2097269"/>
            <a:ext cx="547914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Действия модератора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Одобрение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Отклонение с указанием причины решения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Автоматическое уведомление автора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A81DB43-E65B-AC89-00DE-8A68076D1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581" y="53644"/>
            <a:ext cx="6859419" cy="20436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1DEF18-6807-CCEF-3533-28E8FBC5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7707"/>
            <a:ext cx="9485086" cy="18378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A5C3569-396C-5834-6797-1F7F04F33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581" y="2187877"/>
            <a:ext cx="6877402" cy="20569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697DFC8-FAC6-1BA9-914A-DC0F93FE104E}"/>
              </a:ext>
            </a:extLst>
          </p:cNvPr>
          <p:cNvSpPr txBox="1"/>
          <p:nvPr/>
        </p:nvSpPr>
        <p:spPr>
          <a:xfrm>
            <a:off x="9434286" y="4335409"/>
            <a:ext cx="275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ModerationVerdictService</a:t>
            </a:r>
            <a:endParaRPr lang="ru-RU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FB4D6B90-09B8-A440-CE86-819375E63C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6536" b="46050"/>
          <a:stretch/>
        </p:blipFill>
        <p:spPr>
          <a:xfrm>
            <a:off x="10203545" y="4851469"/>
            <a:ext cx="1988455" cy="200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23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DAC00A-2DE2-996E-0F21-FC36F5B6E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" y="6713"/>
            <a:ext cx="7626094" cy="43791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70ABF9-68C0-8A66-3248-3146A95F7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4" y="6713"/>
            <a:ext cx="4090133" cy="22458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0B6175-FFFA-957F-DAB7-0468B37E5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118" y="3271285"/>
            <a:ext cx="3604943" cy="2454147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04A9412-1E28-B896-3EEE-78321A9AD72F}"/>
              </a:ext>
            </a:extLst>
          </p:cNvPr>
          <p:cNvCxnSpPr>
            <a:endCxn id="7" idx="1"/>
          </p:cNvCxnSpPr>
          <p:nvPr/>
        </p:nvCxnSpPr>
        <p:spPr>
          <a:xfrm flipV="1">
            <a:off x="4209143" y="1129625"/>
            <a:ext cx="3420381" cy="229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156DAC8-C71B-CAAD-A1B6-96A3CE232C63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81775" y="2252536"/>
            <a:ext cx="3092816" cy="1162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D829EED-3AF9-AF64-7FC1-52FBFBCF2B5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581775" y="3414713"/>
            <a:ext cx="1290343" cy="1083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5B1442E-33ED-F063-AA18-625BD4C69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860" y="4437838"/>
            <a:ext cx="5167086" cy="2420162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0CCCFD0-8806-A431-F52B-964A548FA7CA}"/>
              </a:ext>
            </a:extLst>
          </p:cNvPr>
          <p:cNvCxnSpPr>
            <a:stCxn id="9" idx="1"/>
            <a:endCxn id="21" idx="3"/>
          </p:cNvCxnSpPr>
          <p:nvPr/>
        </p:nvCxnSpPr>
        <p:spPr>
          <a:xfrm flipH="1">
            <a:off x="7226946" y="4498359"/>
            <a:ext cx="645172" cy="114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72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EAAA34-977E-4F1D-8F18-E7104774E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Установка игры с </a:t>
            </a:r>
            <a:r>
              <a:rPr lang="en-US" dirty="0"/>
              <a:t>GitHub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7655A4-F6EC-4FD3-92A7-8AE9E19EDD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155008"/>
          </a:xfrm>
        </p:spPr>
        <p:txBody>
          <a:bodyPr/>
          <a:lstStyle/>
          <a:p>
            <a:r>
              <a:rPr lang="ru-RU" b="0" dirty="0">
                <a:solidFill>
                  <a:schemeClr val="bg1"/>
                </a:solidFill>
              </a:rPr>
              <a:t>Установка файлов версии игры происходит только после её одобрения модератором</a:t>
            </a: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84182-7683-4D6E-BBBD-A46A1D12EC36}"/>
              </a:ext>
            </a:extLst>
          </p:cNvPr>
          <p:cNvSpPr txBox="1"/>
          <p:nvPr/>
        </p:nvSpPr>
        <p:spPr>
          <a:xfrm>
            <a:off x="405765" y="231150"/>
            <a:ext cx="74549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public void approve(Integer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moderationVerdictId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org.springframework.security.core.userdetails.User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user)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ModerationVerdict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verdict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moderationVerdictRepository.findById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moderationVerdictId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    .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orElseThrow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(() -&gt; new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("Moderation verdict not found"));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verdict.getApproved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 != null)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throw new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IllegalStateException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("Verdict already decided");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var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verdict.getGameVersion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!= null)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githubService.downloadGameVersion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	...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AB30D-0AB0-4DE5-AD1B-556B26678C47}"/>
              </a:ext>
            </a:extLst>
          </p:cNvPr>
          <p:cNvSpPr txBox="1"/>
          <p:nvPr/>
        </p:nvSpPr>
        <p:spPr>
          <a:xfrm>
            <a:off x="405765" y="3025864"/>
            <a:ext cx="524573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public void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downloadGameVersion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version)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String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repoUrl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version.getGame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().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getRepo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String commit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version.getCommitHash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String[] path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extractPath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repoUrl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).split("/");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String owner = path[0];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String repo = path[1];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Path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targetDir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buildTargetPath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(version);</a:t>
            </a:r>
          </a:p>
          <a:p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try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Files.createDirectories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targetDir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Path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zipFile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downloadZip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(owner, repo, commit);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extractNeededFiles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zipFile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targetDir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version.getFiles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(), version);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Files.deleteIfExists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zipFile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e.printStackTrace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throw new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Ошибка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загрузки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файлов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</a:rPr>
              <a:t>с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GitHub", e);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4896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33D7-5AB5-4830-A403-F2885E079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Реализация: страница профиля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F0DB5-0A74-4F63-BB17-90ECDE68FC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96093" y="4564555"/>
            <a:ext cx="5486400" cy="164592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Профиль является самой нагруженной функциональностью страницей: коллекции, уведомления, отзывы, формы и тысяча и одна кнопочка которые вселяют во всё это жизнь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EC31F-BDE5-48B8-A4B1-5A237A95C03B}"/>
              </a:ext>
            </a:extLst>
          </p:cNvPr>
          <p:cNvSpPr txBox="1"/>
          <p:nvPr/>
        </p:nvSpPr>
        <p:spPr>
          <a:xfrm>
            <a:off x="180480" y="2394730"/>
            <a:ext cx="651187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marR="258445">
              <a:spcAft>
                <a:spcPts val="0"/>
              </a:spcAft>
            </a:pP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document.addEventListener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("click", async (e) =&gt; {</a:t>
            </a:r>
          </a:p>
          <a:p>
            <a:pPr marL="180340" marR="258445"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const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actionEl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e.target.closest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("[data-action]");</a:t>
            </a:r>
          </a:p>
          <a:p>
            <a:pPr marL="180340" marR="258445"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const action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actionEl.dataset.action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</a:p>
          <a:p>
            <a:pPr marL="180340" marR="258445">
              <a:spcAft>
                <a:spcPts val="0"/>
              </a:spcAft>
            </a:pP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if (action === “load-repo-tree")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{...}</a:t>
            </a:r>
          </a:p>
          <a:p>
            <a:pPr marL="180340" marR="258445"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...</a:t>
            </a:r>
          </a:p>
          <a:p>
            <a:pPr marL="180340" marR="258445"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if (action === "open-modal") {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const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modalType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actionEl.dataset.modal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...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if 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modalType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=== 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become_dev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 {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openModal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tpl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-become-dev", async () =&gt; {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const form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modalContent.querySelector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('form[data-form="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become_dev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"]');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const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submitBtn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form.querySelector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('button[type="submit"]');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const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formData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new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FormData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(form);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const data =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Object.fromEntries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formData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const response = await fetch("/dev-applications", {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method: "POST",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headers: {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  "Content-Type": "application/json"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},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body: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JSON.stringify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(data)</a:t>
            </a:r>
          </a:p>
          <a:p>
            <a:pPr marL="637540" marR="258445" lvl="1"/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});</a:t>
            </a:r>
            <a:endParaRPr lang="en-US" sz="1200" dirty="0">
              <a:solidFill>
                <a:schemeClr val="bg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00E540-C109-4600-959A-3A1867EC0204}"/>
              </a:ext>
            </a:extLst>
          </p:cNvPr>
          <p:cNvSpPr txBox="1"/>
          <p:nvPr/>
        </p:nvSpPr>
        <p:spPr>
          <a:xfrm>
            <a:off x="405765" y="178738"/>
            <a:ext cx="49563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&lt;div id="collections-wrapper" class="hidden"&gt;&lt;/div&gt;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&lt;div id="reviews-wrapper" class="hidden"&gt;&lt;/div&gt;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&lt;div id="notifications-wrapper" class="hidden"&gt;&lt;/div&gt;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&lt;div id="my-games-wrapper" class="hidden"&gt;&lt;/div&gt;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&lt;div id="collection-games-wrapper" class="hidden"&gt;&lt;/div&gt;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9A221-59CA-4533-936F-22201C6E28EE}"/>
              </a:ext>
            </a:extLst>
          </p:cNvPr>
          <p:cNvSpPr txBox="1"/>
          <p:nvPr/>
        </p:nvSpPr>
        <p:spPr>
          <a:xfrm>
            <a:off x="405765" y="119440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&lt;button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type="button"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</a:rPr>
              <a:t>data-action="load-repo-tree"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&lt;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class="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fas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fa-folder-tree"&gt;&lt;/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Загрузить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дерево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репозитория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3881566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380B9-2F48-4EE5-8A77-2FBE4CFD44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5" t="13512" r="10326"/>
          <a:stretch/>
        </p:blipFill>
        <p:spPr>
          <a:xfrm>
            <a:off x="0" y="929042"/>
            <a:ext cx="9766852" cy="592895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A8F760-41F4-46E4-B2F1-6145188419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" t="23917" r="55815" b="37295"/>
          <a:stretch/>
        </p:blipFill>
        <p:spPr>
          <a:xfrm>
            <a:off x="6969301" y="2290975"/>
            <a:ext cx="5222699" cy="227604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BAE67E-C417-438B-9445-2813F71785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19" r="39646"/>
          <a:stretch/>
        </p:blipFill>
        <p:spPr>
          <a:xfrm>
            <a:off x="5007812" y="4581951"/>
            <a:ext cx="7184188" cy="227604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230159-DE73-4DD4-8E8B-1BA451F5485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7" t="31105" r="50091" b="27432"/>
          <a:stretch/>
        </p:blipFill>
        <p:spPr>
          <a:xfrm>
            <a:off x="7366112" y="14926"/>
            <a:ext cx="4825888" cy="22760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22266C0-E6C1-4822-B185-6C134351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73" y="265043"/>
            <a:ext cx="10972800" cy="520119"/>
          </a:xfrm>
        </p:spPr>
        <p:txBody>
          <a:bodyPr/>
          <a:lstStyle/>
          <a:p>
            <a:r>
              <a:rPr lang="ru-RU" dirty="0"/>
              <a:t>Реализация: страница профиля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402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">
            <a:extLst>
              <a:ext uri="{FF2B5EF4-FFF2-40B4-BE49-F238E27FC236}">
                <a16:creationId xmlns:a16="http://schemas.microsoft.com/office/drawing/2014/main" id="{F3E5D656-5513-13C6-B44B-91CED04371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08"/>
          <a:stretch/>
        </p:blipFill>
        <p:spPr>
          <a:xfrm rot="2170012">
            <a:off x="7910285" y="-811817"/>
            <a:ext cx="4876800" cy="38668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4E2AA18-A732-46AD-BB48-3ACC90D2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Интеграционное тестирование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DDABF-1F9F-5245-D54F-704AF1F98777}"/>
              </a:ext>
            </a:extLst>
          </p:cNvPr>
          <p:cNvSpPr txBox="1"/>
          <p:nvPr/>
        </p:nvSpPr>
        <p:spPr>
          <a:xfrm>
            <a:off x="188686" y="2413337"/>
            <a:ext cx="6096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Цель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Проверка взаимодействия компонентов системы в условиях, близких к реальной эксплуатации.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C4F36-9860-F2F0-BBE8-5943FD780438}"/>
              </a:ext>
            </a:extLst>
          </p:cNvPr>
          <p:cNvSpPr txBox="1"/>
          <p:nvPr/>
        </p:nvSpPr>
        <p:spPr>
          <a:xfrm>
            <a:off x="6444344" y="2413337"/>
            <a:ext cx="560251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Проблема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In-Memory БД (H2) не всегда повторяет поведение MySQL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Ошибки могут проявиться только после развертывания приложения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40448-9AE7-AA88-B9DE-E299E47B814C}"/>
              </a:ext>
            </a:extLst>
          </p:cNvPr>
          <p:cNvSpPr txBox="1"/>
          <p:nvPr/>
        </p:nvSpPr>
        <p:spPr>
          <a:xfrm>
            <a:off x="188686" y="4344669"/>
            <a:ext cx="60960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Решение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 err="1">
                <a:solidFill>
                  <a:srgbClr val="1A202C"/>
                </a:solidFill>
              </a:rPr>
              <a:t>Testcontainers</a:t>
            </a:r>
            <a:r>
              <a:rPr lang="ru-RU" sz="2000" dirty="0">
                <a:solidFill>
                  <a:srgbClr val="1A202C"/>
                </a:solidFill>
              </a:rPr>
              <a:t>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Реальная MySQL в </a:t>
            </a:r>
            <a:r>
              <a:rPr lang="ru-RU" sz="2000" dirty="0" err="1">
                <a:solidFill>
                  <a:srgbClr val="1A202C"/>
                </a:solidFill>
              </a:rPr>
              <a:t>Docker</a:t>
            </a:r>
            <a:r>
              <a:rPr lang="ru-RU" sz="2000" dirty="0">
                <a:solidFill>
                  <a:srgbClr val="1A202C"/>
                </a:solidFill>
              </a:rPr>
              <a:t>-контейнере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Автоматическая подготовка тестового окружения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C027F1-A906-C0E4-6014-BBDA8AAEF0C8}"/>
              </a:ext>
            </a:extLst>
          </p:cNvPr>
          <p:cNvSpPr txBox="1"/>
          <p:nvPr/>
        </p:nvSpPr>
        <p:spPr>
          <a:xfrm>
            <a:off x="6444344" y="4652445"/>
            <a:ext cx="624114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Результат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Идентичность тестовой и рабочей среды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Более достоверные результаты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405790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B30D-97E6-4698-98D5-2039FCC3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8625840" cy="1574317"/>
          </a:xfrm>
        </p:spPr>
        <p:txBody>
          <a:bodyPr/>
          <a:lstStyle/>
          <a:p>
            <a:r>
              <a:rPr lang="ru-RU" dirty="0"/>
              <a:t>Интеграционное тестирование: загрузка игры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BBAB9-C90D-468A-BB60-12578CDDCA99}"/>
              </a:ext>
            </a:extLst>
          </p:cNvPr>
          <p:cNvSpPr txBox="1"/>
          <p:nvPr/>
        </p:nvSpPr>
        <p:spPr>
          <a:xfrm>
            <a:off x="494030" y="2302907"/>
            <a:ext cx="87261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@Test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should_DownloadZip_ExtractFiles_AndInjectScriptsIntoHtml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() throws Exception {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ReflectionTestUtils.setField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, "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storagePath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",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tempStorageDir.toString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WebClient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mockWebClient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WebClient.builder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() .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baseUrl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wireMockServer.baseUrl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()).build();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target =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AopTestUtils.getUltimateTargetObject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ReflectionTestUtils.setField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target,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"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webClient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mockWebClient</a:t>
            </a:r>
            <a:endParaRPr lang="en-US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Game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game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= new Game(7, "https://github.com/my-owner/my-repo");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version = new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GameVersion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000" dirty="0">
                <a:solidFill>
                  <a:schemeClr val="bg1"/>
                </a:solidFill>
                <a:latin typeface="Consolas" panose="020B0609020204030204" pitchFamily="49" charset="0"/>
              </a:rPr>
              <a:t>14, 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"xyz987", game, "index.html, Route/Route.html");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byte[]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mockZipBytes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Files.readAllBytes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Path.of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src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/test/resources/test-repo.zip"));</a:t>
            </a:r>
            <a:endParaRPr lang="ru-RU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wireMockServer.stubFor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(get(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urlEqualTo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("/repos/</a:t>
            </a:r>
            <a:r>
              <a:rPr lang="ru-RU" sz="1000" dirty="0">
                <a:solidFill>
                  <a:schemeClr val="bg1"/>
                </a:solidFill>
                <a:latin typeface="Consolas" panose="020B0609020204030204" pitchFamily="49" charset="0"/>
              </a:rPr>
              <a:t>my-owner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/my-repo/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zipball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/xyz987"))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.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willReturn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aResponse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().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withStatus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(200).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withHeader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("Content-Type", "application/zip").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withBody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mockZipBytes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)));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githubService.downloadGameVersion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(version);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Path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expectedTargetDir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tempStorageDir.resolve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gamefiles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").resolve("game_7").resolve("ver_14");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Path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expectedHtmlFile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expectedTargetDir.resolve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("index.html");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Path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expectedRouteFile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expectedTargetDir.resolve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("Route").resolve("Route.html");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assertTrue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Files.exists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expectedHtmlFile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), "index.html should be extracted to the target directory");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assertTrue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Files.exists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expectedRouteFile</a:t>
            </a:r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), "Route.html should be extracted");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9582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CA31-EEFB-4A1F-9132-0E58C898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Нагрузочное тестирование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F6D473-C7E3-7A70-93E5-D63EB57F5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" y="1375352"/>
            <a:ext cx="6924909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500" b="1" dirty="0">
                <a:solidFill>
                  <a:schemeClr val="accent3"/>
                </a:solidFill>
                <a:latin typeface="+mj-lt"/>
              </a:rPr>
              <a:t>Цель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Оценка производительности системы при росте нагрузки 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Выявление узких мест приложения 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dirty="0">
                <a:solidFill>
                  <a:srgbClr val="1A202C"/>
                </a:solidFill>
              </a:rPr>
              <a:t>Проверка масштабируемости решения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BBB1D-1BF6-A0CF-5A01-4B93A1609443}"/>
              </a:ext>
            </a:extLst>
          </p:cNvPr>
          <p:cNvSpPr txBox="1"/>
          <p:nvPr/>
        </p:nvSpPr>
        <p:spPr>
          <a:xfrm>
            <a:off x="222885" y="3577755"/>
            <a:ext cx="6096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500" b="1" dirty="0">
                <a:solidFill>
                  <a:schemeClr val="accent3"/>
                </a:solidFill>
                <a:latin typeface="+mj-lt"/>
              </a:rPr>
              <a:t>Результаты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Определены предельные режимы работы системы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Выявлены проблемы производительности каталога игр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1A202C"/>
                </a:solidFill>
              </a:rPr>
              <a:t>Получены данные для дальнейшей оптимизации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432C80ED-D31E-E887-3B3B-D9E029FC0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063"/>
          <a:stretch/>
        </p:blipFill>
        <p:spPr>
          <a:xfrm>
            <a:off x="7496629" y="-348622"/>
            <a:ext cx="4695371" cy="53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32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0BC7BC-6C3E-4F69-B937-CD226088C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Нагрузочное тестирование: страница каталога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D9338-C5E5-4D73-BA5C-BF54E27F87A9}"/>
              </a:ext>
            </a:extLst>
          </p:cNvPr>
          <p:cNvSpPr txBox="1"/>
          <p:nvPr/>
        </p:nvSpPr>
        <p:spPr>
          <a:xfrm>
            <a:off x="0" y="0"/>
            <a:ext cx="609600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@Transactional(readOnly = true)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public Page&lt;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CatalogGameDTO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getFilteredGames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GameFilterDTO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filter, Pageable pageable) {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List&lt;Game&gt; games =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gameRepository.findGamesWithBasicFilters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filter.getSearch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(),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filter.getGenre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());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List&lt;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CatalogGameDTO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games.stream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.map(this::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convertToCatalogDto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.collect(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Collectors.toList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());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if 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filter.getTags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 != null &amp;&amp; !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filter.getTags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().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isEmpty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 {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dtos.stream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    .filter(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-&gt;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dto.getTags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 != null &amp;&amp;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dto.getTags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().stream().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anyMatch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filter.getTags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()::contains))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    .collect(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Collectors.toList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());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}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if 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filter.getMinRating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 != null) {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dtos.stream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    .filter(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-&gt;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dto.getAverageRating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 &gt;=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filter.getMinRating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    .collect(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Collectors.toList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());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}</a:t>
            </a:r>
            <a:b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sortGames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dtos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filter.getSort</a:t>
            </a:r>
            <a:r>
              <a:rPr lang="en-US" sz="11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());</a:t>
            </a:r>
            <a:endParaRPr lang="ru-RU" sz="1100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int start = (int)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pageable.getOffset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int end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Math.min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((start +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pageable.getPageSize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()),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dtos.size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List&lt;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CatalogGameDTO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pagedList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= start &lt; end ?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dtos.subList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(start, end) :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Collections.emptyList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    return new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PageImpl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&lt;&gt;(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pagedList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, pageable,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dtos.size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());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</a:rPr>
              <a:t>}</a:t>
            </a: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62AA7-D092-426C-A569-3405EF933A7A}"/>
              </a:ext>
            </a:extLst>
          </p:cNvPr>
          <p:cNvSpPr txBox="1"/>
          <p:nvPr/>
        </p:nvSpPr>
        <p:spPr>
          <a:xfrm>
            <a:off x="0" y="5093702"/>
            <a:ext cx="103466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private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CatalogGameDTO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convertToCatalogDto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(Game game) {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Double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avgRating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reviewRepository.getAverageRatingByGame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(game);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reviewsCount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reviewRepository.countByGame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(game);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totalViews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gameStatsRepository.getTotalStatsByGameAndType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(game,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GameStats.EventType.view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totalLaunches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gameStatsRepository.getTotalStatsByGameAndType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(game,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GameStats.EventType.launch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Instant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firstReleaseDate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gameVersionRepository.findFirstByGameOrderByCreatedAtAsc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(game)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.map(version -&gt;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version.getCreatedAt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())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            .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orElse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(null);</a:t>
            </a:r>
            <a:b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...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B511A68-7812-41BE-A2E4-AC046DE771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/>
          <a:lstStyle/>
          <a:p>
            <a:r>
              <a:rPr lang="ru-RU" b="0" dirty="0">
                <a:solidFill>
                  <a:schemeClr val="bg1"/>
                </a:solidFill>
              </a:rPr>
              <a:t>Время загрузки: 60 секунд</a:t>
            </a:r>
            <a:endParaRPr lang="en-US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673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4D3A-238A-4C7F-9DB8-EB86D5EC6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Нагрузочное тестирование: оптимизация запроса игр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E1E3E-652B-4B17-B0FA-172A4D233F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b="0" dirty="0">
                <a:solidFill>
                  <a:schemeClr val="bg1"/>
                </a:solidFill>
              </a:rPr>
              <a:t>Время загрузки: 1.5 секунды</a:t>
            </a: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DD7B7-C195-4AB9-8717-69403DDE3345}"/>
              </a:ext>
            </a:extLst>
          </p:cNvPr>
          <p:cNvSpPr txBox="1"/>
          <p:nvPr/>
        </p:nvSpPr>
        <p:spPr>
          <a:xfrm>
            <a:off x="405764" y="667610"/>
            <a:ext cx="5486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@Query("""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SELECT new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ru.vlsu.myng.dto.CatalogGameDTO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   /*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CatalogGameDTO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fields*/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FROM Game g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LEFT JOIN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g.developer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d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LEFT JOIN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g.reviews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r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LEFT JOIN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g.stats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gs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LEFT JOIN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g.versions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gv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LEFT JOIN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g.tags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t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WHERE ( :search IS NULL OR :search = '' OR LOWER(g.name) LIKE LOWER(CONCAT('%', :search, '%')) OR LOWER(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g.descr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 LIKE LOWER(CONCAT('%', :search, '%')) OR LOWER(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d.username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 LIKE LOWER(CONCAT('%', :search, '%')) 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AND ( :genre IS NULL OR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g.genre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:genre 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AND ( :tags IS NULL OR t.name IN :tags 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GROUP BY g.id, g.name,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g.descr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g.genre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d.username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g.image</a:t>
            </a:r>
            <a:endParaRPr lang="en-US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HAVING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 :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minRating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IS NULL OR AVG(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r.rating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) &gt;= :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minRating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""")</a:t>
            </a:r>
          </a:p>
          <a:p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Page&lt;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CatalogGameDTO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findCatalogGames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 @Param("search") String search, @Param("genre")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Game.Genre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genre, @Param("tags") Set&lt;String&gt; tags, @Param("minRating") Double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minRating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, Pageable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pageable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26095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BB51-D85A-4E4E-B754-60F1A8B4E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4282" y="430529"/>
            <a:ext cx="6096000" cy="3291840"/>
          </a:xfrm>
        </p:spPr>
        <p:txBody>
          <a:bodyPr/>
          <a:lstStyle/>
          <a:p>
            <a:r>
              <a:rPr lang="ru-RU" dirty="0"/>
              <a:t>Нагрузочное тестирование: денормализация сущности игры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6A928-CB2E-4BD2-ACCE-FAF3B96206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b="0" dirty="0">
                <a:solidFill>
                  <a:schemeClr val="bg1"/>
                </a:solidFill>
              </a:rPr>
              <a:t>Время загрузки: 70 миллисекунд</a:t>
            </a: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31A15-BE0C-488A-9D22-4B014F59643C}"/>
              </a:ext>
            </a:extLst>
          </p:cNvPr>
          <p:cNvSpPr txBox="1"/>
          <p:nvPr/>
        </p:nvSpPr>
        <p:spPr>
          <a:xfrm>
            <a:off x="0" y="13745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marR="179705"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@Column(nullable = false)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 Double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averageRating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0.0;</a:t>
            </a: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340" marR="179705"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@Column(nullable = false)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ratingSum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0;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@Column(nullable = false)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reviewCount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0;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@Column(nullable = false)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totalViews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0;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@Column(nullable = false)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 Integer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totalLaunches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0;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@Column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private Instant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firstReleaseDate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47999-A190-4EA7-8F42-C75518097BFA}"/>
              </a:ext>
            </a:extLst>
          </p:cNvPr>
          <p:cNvSpPr txBox="1"/>
          <p:nvPr/>
        </p:nvSpPr>
        <p:spPr>
          <a:xfrm>
            <a:off x="203835" y="2568207"/>
            <a:ext cx="56883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@Transactional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public Review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createReview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(Game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User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Byte rating, String text) {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Review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review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new Review();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review.setGame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(game);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ru-RU" sz="1200" dirty="0">
                <a:solidFill>
                  <a:schemeClr val="bg1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game.setRatingSum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game.getRatingSum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+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review.getRating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game.setReviewCount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game.getReviewCount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+ 1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game.setAverageRating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((double)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game.getRatingSum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 </a:t>
            </a:r>
            <a:r>
              <a:rPr lang="en-US" sz="12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game.getReviewCount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8E295-1A4D-47C6-BEFD-F6F797A3FB27}"/>
              </a:ext>
            </a:extLst>
          </p:cNvPr>
          <p:cNvSpPr txBox="1"/>
          <p:nvPr/>
        </p:nvSpPr>
        <p:spPr>
          <a:xfrm>
            <a:off x="203835" y="4714376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@Query("""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SELECT new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ru.vlsu.myng.dto.CatalogGameDTO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(...,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d.username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g.averageRating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g.reviewCount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g.totalViews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g.totalLaunches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g.firstReleaseDate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...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FROM Game g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LEFT JOIN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g.developer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d</a:t>
            </a:r>
          </a:p>
        </p:txBody>
      </p:sp>
    </p:spTree>
    <p:extLst>
      <p:ext uri="{BB962C8B-B14F-4D97-AF65-F5344CB8AC3E}">
        <p14:creationId xmlns:p14="http://schemas.microsoft.com/office/powerpoint/2010/main" val="1391751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BDAA48-3BC0-40D4-B3F2-704F2F92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3BB6FE-6624-4801-891F-6E6BC94D08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1705428"/>
            <a:ext cx="7810500" cy="2315029"/>
          </a:xfrm>
        </p:spPr>
        <p:txBody>
          <a:bodyPr>
            <a:normAutofit fontScale="32500" lnSpcReduction="20000"/>
          </a:bodyPr>
          <a:lstStyle/>
          <a:p>
            <a:pPr marL="0"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6800" b="1" dirty="0">
                <a:solidFill>
                  <a:schemeClr val="accent3"/>
                </a:solidFill>
                <a:latin typeface="+mj-lt"/>
              </a:rPr>
              <a:t>Результаты проекта</a:t>
            </a: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6200" dirty="0">
                <a:solidFill>
                  <a:srgbClr val="1A202C"/>
                </a:solidFill>
              </a:rPr>
              <a:t>Реализован каталог игр с поиском и фильтрацией</a:t>
            </a: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6200" dirty="0">
                <a:solidFill>
                  <a:srgbClr val="1A202C"/>
                </a:solidFill>
              </a:rPr>
              <a:t>Реализован запуск игр непосредственно в браузере</a:t>
            </a: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6200" dirty="0">
                <a:solidFill>
                  <a:srgbClr val="1A202C"/>
                </a:solidFill>
              </a:rPr>
              <a:t>Создана система публикации и модерации контента</a:t>
            </a: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6200" dirty="0">
                <a:solidFill>
                  <a:srgbClr val="1A202C"/>
                </a:solidFill>
              </a:rPr>
              <a:t>Реализованы личные кабинеты разработчиков и игроков</a:t>
            </a:r>
          </a:p>
          <a:p>
            <a:pPr marL="34290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u-RU" sz="6200" dirty="0">
                <a:solidFill>
                  <a:srgbClr val="1A202C"/>
                </a:solidFill>
              </a:rPr>
              <a:t>Проведено интеграционное и нагрузочное тестирование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36C216A-96FF-400F-8B45-FB8CEC89D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074832"/>
            <a:ext cx="680859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en-US" sz="2200" b="1" dirty="0">
                <a:solidFill>
                  <a:schemeClr val="accent3"/>
                </a:solidFill>
                <a:latin typeface="+mj-lt"/>
              </a:rPr>
              <a:t>Возможные векторы развития:</a:t>
            </a:r>
            <a:endParaRPr lang="en-US" altLang="en-US" sz="2200" b="1" dirty="0">
              <a:solidFill>
                <a:schemeClr val="accent3"/>
              </a:solidFill>
              <a:latin typeface="+mj-lt"/>
            </a:endParaRPr>
          </a:p>
          <a:p>
            <a:pPr marL="342900" marR="0" lvl="0" indent="-34290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dirty="0" err="1">
                <a:solidFill>
                  <a:srgbClr val="1A202C"/>
                </a:solidFill>
              </a:rPr>
              <a:t>Рекомендации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игр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на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основе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интересов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пользователей</a:t>
            </a:r>
            <a:r>
              <a:rPr lang="en-US" altLang="en-US" sz="2000" dirty="0">
                <a:solidFill>
                  <a:srgbClr val="1A202C"/>
                </a:solidFill>
              </a:rPr>
              <a:t>. </a:t>
            </a:r>
          </a:p>
          <a:p>
            <a:pPr marL="342900" marR="0" lvl="0" indent="-34290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dirty="0" err="1">
                <a:solidFill>
                  <a:srgbClr val="1A202C"/>
                </a:solidFill>
              </a:rPr>
              <a:t>Подписки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на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разработчиков</a:t>
            </a:r>
            <a:r>
              <a:rPr lang="en-US" altLang="en-US" sz="2000" dirty="0">
                <a:solidFill>
                  <a:srgbClr val="1A202C"/>
                </a:solidFill>
              </a:rPr>
              <a:t> и </a:t>
            </a:r>
            <a:r>
              <a:rPr lang="en-US" altLang="en-US" sz="2000" dirty="0" err="1">
                <a:solidFill>
                  <a:srgbClr val="1A202C"/>
                </a:solidFill>
              </a:rPr>
              <a:t>уведомления</a:t>
            </a:r>
            <a:r>
              <a:rPr lang="en-US" altLang="en-US" sz="2000" dirty="0">
                <a:solidFill>
                  <a:srgbClr val="1A202C"/>
                </a:solidFill>
              </a:rPr>
              <a:t> о </a:t>
            </a:r>
            <a:r>
              <a:rPr lang="en-US" altLang="en-US" sz="2000" dirty="0" err="1">
                <a:solidFill>
                  <a:srgbClr val="1A202C"/>
                </a:solidFill>
              </a:rPr>
              <a:t>релизах</a:t>
            </a:r>
            <a:r>
              <a:rPr lang="en-US" altLang="en-US" sz="2000" dirty="0">
                <a:solidFill>
                  <a:srgbClr val="1A202C"/>
                </a:solidFill>
              </a:rPr>
              <a:t>. </a:t>
            </a:r>
          </a:p>
          <a:p>
            <a:pPr marL="342900" marR="0" lvl="0" indent="-34290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dirty="0" err="1">
                <a:solidFill>
                  <a:srgbClr val="1A202C"/>
                </a:solidFill>
              </a:rPr>
              <a:t>Инструменты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аналитики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для</a:t>
            </a:r>
            <a:r>
              <a:rPr lang="en-US" altLang="en-US" sz="2000" dirty="0">
                <a:solidFill>
                  <a:srgbClr val="1A202C"/>
                </a:solidFill>
              </a:rPr>
              <a:t> </a:t>
            </a:r>
            <a:r>
              <a:rPr lang="en-US" altLang="en-US" sz="2000" dirty="0" err="1">
                <a:solidFill>
                  <a:srgbClr val="1A202C"/>
                </a:solidFill>
              </a:rPr>
              <a:t>разработчиков</a:t>
            </a:r>
            <a:r>
              <a:rPr lang="en-US" altLang="en-US" sz="2000" dirty="0">
                <a:solidFill>
                  <a:srgbClr val="1A202C"/>
                </a:solidFill>
              </a:rPr>
              <a:t>.</a:t>
            </a:r>
            <a:endParaRPr lang="ru-RU" altLang="en-US" sz="2000" dirty="0">
              <a:solidFill>
                <a:srgbClr val="1A202C"/>
              </a:solidFill>
            </a:endParaRPr>
          </a:p>
          <a:p>
            <a:pPr marL="342900" marR="0" lvl="0" indent="-34290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en-US" sz="2000" dirty="0">
                <a:solidFill>
                  <a:srgbClr val="1A202C"/>
                </a:solidFill>
              </a:rPr>
              <a:t>Различные источники кода (помимо </a:t>
            </a:r>
            <a:r>
              <a:rPr lang="en-US" altLang="en-US" sz="2000" dirty="0">
                <a:solidFill>
                  <a:srgbClr val="1A202C"/>
                </a:solidFill>
              </a:rPr>
              <a:t>GitHub</a:t>
            </a:r>
            <a:r>
              <a:rPr lang="ru-RU" altLang="en-US" sz="2000" dirty="0">
                <a:solidFill>
                  <a:srgbClr val="1A202C"/>
                </a:solidFill>
              </a:rPr>
              <a:t>)</a:t>
            </a:r>
            <a:endParaRPr lang="en-US" altLang="en-US" sz="2000" dirty="0">
              <a:solidFill>
                <a:srgbClr val="1A202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C2093-9770-52FF-810F-68B58021C808}"/>
              </a:ext>
            </a:extLst>
          </p:cNvPr>
          <p:cNvSpPr txBox="1"/>
          <p:nvPr/>
        </p:nvSpPr>
        <p:spPr>
          <a:xfrm>
            <a:off x="3048000" y="6088559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200" b="1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Цель проекта достигнута: создана единая платформа для публикации, поиска и запуска инди-игр.</a:t>
            </a:r>
          </a:p>
        </p:txBody>
      </p:sp>
    </p:spTree>
    <p:extLst>
      <p:ext uri="{BB962C8B-B14F-4D97-AF65-F5344CB8AC3E}">
        <p14:creationId xmlns:p14="http://schemas.microsoft.com/office/powerpoint/2010/main" val="1107860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5B69A4-FD9B-46A9-A39D-D9BA2196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701CBA-9AEE-4FC8-9054-2725773DC1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41" b="2028"/>
          <a:stretch/>
        </p:blipFill>
        <p:spPr>
          <a:xfrm>
            <a:off x="405162" y="397435"/>
            <a:ext cx="4565981" cy="32918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AEA76D-A7CA-040C-EA28-3D3B511D9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63" y="3802088"/>
            <a:ext cx="5791573" cy="29613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28DA2C-7932-B318-55CA-D1AE59741447}"/>
              </a:ext>
            </a:extLst>
          </p:cNvPr>
          <p:cNvSpPr txBox="1"/>
          <p:nvPr/>
        </p:nvSpPr>
        <p:spPr>
          <a:xfrm>
            <a:off x="2794000" y="4027714"/>
            <a:ext cx="79828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ШОК</a:t>
            </a:r>
          </a:p>
        </p:txBody>
      </p:sp>
    </p:spTree>
    <p:extLst>
      <p:ext uri="{BB962C8B-B14F-4D97-AF65-F5344CB8AC3E}">
        <p14:creationId xmlns:p14="http://schemas.microsoft.com/office/powerpoint/2010/main" val="15701617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</TotalTime>
  <Words>2971</Words>
  <Application>Microsoft Office PowerPoint</Application>
  <PresentationFormat>Widescreen</PresentationFormat>
  <Paragraphs>371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Consolas</vt:lpstr>
      <vt:lpstr>Franklin Gothic Book</vt:lpstr>
      <vt:lpstr>Franklin Gothic Demi</vt:lpstr>
      <vt:lpstr>Times New Roman</vt:lpstr>
      <vt:lpstr>Wingdings</vt:lpstr>
      <vt:lpstr>Пользовательская</vt:lpstr>
      <vt:lpstr>PowerPoint Presentation</vt:lpstr>
      <vt:lpstr>Задачи</vt:lpstr>
      <vt:lpstr>Анализ существующих решений</vt:lpstr>
      <vt:lpstr>Выбор технологий бэкенда</vt:lpstr>
      <vt:lpstr>Выбор и обоснование технологий фронтенда</vt:lpstr>
      <vt:lpstr>Концептуальная диаграмма классов</vt:lpstr>
      <vt:lpstr>Реализация: вход/регистрация</vt:lpstr>
      <vt:lpstr>Реализация: вход/регистрация</vt:lpstr>
      <vt:lpstr>Реализация: каталог</vt:lpstr>
      <vt:lpstr>Реализация: каталог</vt:lpstr>
      <vt:lpstr>Реализация: главная</vt:lpstr>
      <vt:lpstr>Реализация: главная</vt:lpstr>
      <vt:lpstr>Страница игры</vt:lpstr>
      <vt:lpstr>Реализация: страница запущенной игры</vt:lpstr>
      <vt:lpstr>PowerPoint Presentation</vt:lpstr>
      <vt:lpstr>Реализация: страница запущенной игры</vt:lpstr>
      <vt:lpstr>Реализация: публикация игры</vt:lpstr>
      <vt:lpstr>Реализация: модерация</vt:lpstr>
      <vt:lpstr>PowerPoint Presentation</vt:lpstr>
      <vt:lpstr>Установка игры с GitHub</vt:lpstr>
      <vt:lpstr>Реализация: страница профиля</vt:lpstr>
      <vt:lpstr>Реализация: страница профиля</vt:lpstr>
      <vt:lpstr>Интеграционное тестирование</vt:lpstr>
      <vt:lpstr>Интеграционное тестирование: загрузка игры</vt:lpstr>
      <vt:lpstr>Нагрузочное тестирование</vt:lpstr>
      <vt:lpstr>Нагрузочное тестирование: страница каталога</vt:lpstr>
      <vt:lpstr>Нагрузочное тестирование: оптимизация запроса игр</vt:lpstr>
      <vt:lpstr>Нагрузочное тестирование: денормализация сущности игры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Mihail</dc:creator>
  <cp:lastModifiedBy>immer_noch</cp:lastModifiedBy>
  <cp:revision>173</cp:revision>
  <dcterms:created xsi:type="dcterms:W3CDTF">2026-06-17T14:11:49Z</dcterms:created>
  <dcterms:modified xsi:type="dcterms:W3CDTF">2026-06-24T18:20:12Z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